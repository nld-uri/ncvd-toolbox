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NCVD toolbox, version 1.0. Python package and MATLAB package with identical APIs, a manual, and these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are time instants. For a linear system X2 = X1 A^T. The first identity is always exact; the second is exact for clean linear data and is the least-squares remainder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station contributes a phasor psi_j exp(lambda t). With non-proportional damping the phases differ, so the polygon rotates at Im lambda and shrinks at Re lambda; the motion is its real part and the nodes travel. MPC measures how close the polygon is to a line (0.52 here). 6-DOF chain with dampers at masses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rate column splits into its projection on span X1, reproduced exactly by U Lam Phi^H, and a remainder orthogonal to it. For a window of a nonlinear decay ||R||/||X2|| indicates how strongly the window engages the nonlinearity.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Li, Stein and Chelidze, MSSP 222 (2025) 111769, Algorithm 1 and Eqs. 13-14.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exact linear data Q = (A + A^-1)/2, so mu = (lambda + 1/lambda)/2: a Joukowski map, one-to-one only on one side of the unit circle. Rescaling time by c moves the poles; when a pole crosses |lambda/c| = 1 it meets its conjugate and V is undetermined. The off-diagonal of Sigma_2 spikes exactly at c = |lambda_k|. time_scale=auto places all poles at modulus &gt;=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exact tie, omega = 1, published pole error 2.5 at c = 1, machine precision at |c-1| = 1e-4. Right: windows of a Duffing decay; fitted slopes 1.74 (poles) and 1.05 (shapes). Shape-derived ROM quantities inherit the first-order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Proposition 1 of the manual. With the default LS operator the canonical poles are least-squares poles; the contribution is the exactness analysis and the toolset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X1 = [q, Dq], X2 = [Dq, DDq] and one stencil D, a linear record satisfies X2 = X1 A~^T exactly with eigenvalues d(theta). correct_poles solves d(theta) = lambda~ and keeps the lowest-frequency root. Forward difference reproduces Eq. 48 of the paper. Central-type stencils turn over, so the inversion is unique only inside the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10-DOF chain of the paper under white forcing at every mass, 200 Hz, 150 s, independent noise on every channel, 10 records per SNR. Remaining damping error (11-16 %) is the statistical error of a finite record under random forcing.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Forcing: Frisch-Waugh projection, then the operator; gains returned as G. Ensemble: least-squares fusion replaces the quotient averaging of Eq. 59 and is exact for clean data. Weights: equal per record (default), per sample, or by SNR.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Duffing chain, cubic spring grounding mass 1, damping 0.003 M, 1500 s decay, 40 s windows every 10 s. All three backbones converge to the linear frequencies (0.770/0.765, 1.419/1.414, 1.850/1.848). Mode-1 poles agree with the measured response frequency to 1.5 %. The window residual falls with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Section 4.2 of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Options: rank, center, operator (ls, tls, bcls), forcing, time_scale, weights, readout (eig or diag for benchmarking). Manual: docs/manual/NCVD_manual.pdf.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Title">
    <p:bg>
      <p:bgPr>
        <a:solidFill>
          <a:srgbClr val="132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nld-lockup-horizontal-on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905" y="609905"/>
            <a:ext cx="2556470" cy="758952"/>
          </a:xfrm>
          <a:prstGeom prst="rect">
            <a:avLst/>
          </a:prstGeom>
        </p:spPr>
      </p:pic>
      <p:pic>
        <p:nvPicPr>
          <p:cNvPr id="3" name="Image 1" descr="img/nld-mark-hero-on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143000"/>
            <a:ext cx="4023360" cy="4023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09905" y="3246120"/>
            <a:ext cx="6126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09905" y="342900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7F6F2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7F6F2"/>
                </a:solidFill>
              </a:rPr>
              <a:t>Presentation title</a:t>
            </a:r>
            <a:endParaRPr lang="en-US" sz="4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09905" y="5440680"/>
            <a:ext cx="6400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A9B6BF"/>
                </a:solidFill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A9B6BF"/>
                </a:solidFill>
              </a:rPr>
              <a:t>Presenter · Venue · Date</a:t>
            </a:r>
            <a:endParaRPr lang="en-US" sz="1900" dirty="0"/>
          </a:p>
        </p:txBody>
      </p:sp>
      <p:sp>
        <p:nvSpPr>
          <p:cNvPr id="7" name="Text 1"/>
          <p:cNvSpPr/>
          <p:nvPr/>
        </p:nvSpPr>
        <p:spPr>
          <a:xfrm>
            <a:off x="609905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52"/>
                </a:solidFill>
              </a:rPr>
              <a:t>When amplitude changes the story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Section">
    <p:bg>
      <p:bgPr>
        <a:solidFill>
          <a:srgbClr val="132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nld-mark-hero-on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3566160" cy="35661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09905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D98A52"/>
                </a:solidFill>
              </a:defRPr>
            </a:lvl1pPr>
          </a:lstStyle>
          <a:p>
            <a:pPr algn="l" indent="0" marL="0">
              <a:buNone/>
            </a:pPr>
            <a:r>
              <a:rPr lang="en-US" sz="8000" b="1" dirty="0">
                <a:solidFill>
                  <a:srgbClr val="D98A52"/>
                </a:solidFill>
              </a:rPr>
              <a:t>01</a:t>
            </a: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09905" y="3063240"/>
            <a:ext cx="64922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7F6F2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F7F6F2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/>
        </p:nvSpPr>
        <p:spPr>
          <a:xfrm>
            <a:off x="609905" y="6336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6BF"/>
                </a:solidFill>
              </a:rPr>
              <a:t>Nonlinear Dynamics Laboratory</a:t>
            </a:r>
            <a:endParaRPr lang="en-US" sz="1100" dirty="0"/>
          </a:p>
        </p:txBody>
      </p:sp>
      <p:pic>
        <p:nvPicPr>
          <p:cNvPr id="6" name="Image 1" descr="img/nld-lockup-compact-on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515" y="6295644"/>
            <a:ext cx="926275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A9B6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Content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3796"/>
            <a:ext cx="1554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9361" y="53035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sz="1200" spc="150" kern="0" dirty="0">
                <a:solidFill>
                  <a:srgbClr val="5B6168"/>
                </a:solidFill>
              </a:rPr>
              <a:t>SECTION LABEL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09905" y="841248"/>
            <a:ext cx="10971886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132433"/>
                </a:solidFill>
              </a:rPr>
              <a:t>Headline states the claim</a:t>
            </a: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09905" y="2103120"/>
            <a:ext cx="1024128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900" dirty="0">
                <a:solidFill>
                  <a:srgbClr val="132433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32433"/>
                </a:solidFill>
              </a:rPr>
              <a:t>Point one</a:t>
            </a:r>
            <a:endParaRPr lang="en-US" sz="1900" dirty="0"/>
          </a:p>
        </p:txBody>
      </p:sp>
      <p:sp>
        <p:nvSpPr>
          <p:cNvPr id="6" name="Text 1"/>
          <p:cNvSpPr/>
          <p:nvPr/>
        </p:nvSpPr>
        <p:spPr>
          <a:xfrm>
            <a:off x="609905" y="6336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168"/>
                </a:solidFill>
              </a:rPr>
              <a:t>Nonlinear Dynamics Laboratory</a:t>
            </a:r>
            <a:endParaRPr lang="en-US" sz="1100" dirty="0"/>
          </a:p>
        </p:txBody>
      </p:sp>
      <p:pic>
        <p:nvPicPr>
          <p:cNvPr id="7" name="Image 0" descr="img/nld-lockup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515" y="6295644"/>
            <a:ext cx="926275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B61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Title Only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3796"/>
            <a:ext cx="1554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9361" y="53035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sz="1200" spc="150" kern="0" dirty="0">
                <a:solidFill>
                  <a:srgbClr val="5B6168"/>
                </a:solidFill>
              </a:rPr>
              <a:t>SECTION LABEL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09905" y="841248"/>
            <a:ext cx="10971886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132433"/>
                </a:solidFill>
              </a:rPr>
              <a:t>Headline states the claim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609905" y="6336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168"/>
                </a:solidFill>
              </a:rPr>
              <a:t>Nonlinear Dynamics Laboratory</a:t>
            </a:r>
            <a:endParaRPr lang="en-US" sz="1100" dirty="0"/>
          </a:p>
        </p:txBody>
      </p:sp>
      <p:pic>
        <p:nvPicPr>
          <p:cNvPr id="6" name="Image 0" descr="img/nld-lockup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515" y="6295644"/>
            <a:ext cx="926275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B61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Figure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3796"/>
            <a:ext cx="1554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9361" y="53035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sz="1200" spc="150" kern="0" dirty="0">
                <a:solidFill>
                  <a:srgbClr val="5B6168"/>
                </a:solidFill>
              </a:rPr>
              <a:t>SECTION LABEL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09905" y="841248"/>
            <a:ext cx="10971886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132433"/>
                </a:solidFill>
              </a:rPr>
              <a:t>Headline states the claim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09905" y="2011680"/>
            <a:ext cx="70408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9D2"/>
            </a:solidFill>
            <a:prstDash val="solid"/>
          </a:ln>
        </p:spPr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701345" y="2103120"/>
            <a:ext cx="685800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5B6168"/>
                </a:solidFill>
              </a:rPr>
              <a:t>Insert figure (vector PDF or 300 dpi PNG, white background)</a:t>
            </a:r>
            <a:endParaRPr lang="en-US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8092440" y="2011680"/>
            <a:ext cx="347472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5B6168"/>
                </a:solidFill>
              </a:rPr>
              <a:t>One or two sentences on how to read the figure.</a:t>
            </a:r>
            <a:endParaRPr lang="en-US" sz="1700" dirty="0"/>
          </a:p>
        </p:txBody>
      </p:sp>
      <p:sp>
        <p:nvSpPr>
          <p:cNvPr id="8" name="Text 2"/>
          <p:cNvSpPr/>
          <p:nvPr/>
        </p:nvSpPr>
        <p:spPr>
          <a:xfrm>
            <a:off x="609905" y="6336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168"/>
                </a:solidFill>
              </a:rPr>
              <a:t>Nonlinear Dynamics Laboratory</a:t>
            </a:r>
            <a:endParaRPr lang="en-US" sz="1100" dirty="0"/>
          </a:p>
        </p:txBody>
      </p:sp>
      <p:pic>
        <p:nvPicPr>
          <p:cNvPr id="9" name="Image 0" descr="img/nld-lockup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515" y="6295644"/>
            <a:ext cx="926275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B61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Two Column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3796"/>
            <a:ext cx="1554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9361" y="53035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rgbClr val="5B6168"/>
                </a:solidFill>
              </a:defRPr>
            </a:lvl1pPr>
          </a:lstStyle>
          <a:p>
            <a:pPr indent="0" marL="0">
              <a:buNone/>
            </a:pPr>
            <a:r>
              <a:rPr lang="en-US" sz="1200" spc="150" kern="0" dirty="0">
                <a:solidFill>
                  <a:srgbClr val="5B6168"/>
                </a:solidFill>
              </a:rPr>
              <a:t>SECTION LABEL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09905" y="841248"/>
            <a:ext cx="10971886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2433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rgbClr val="132433"/>
                </a:solidFill>
              </a:rPr>
              <a:t>Headline states the claim</a:t>
            </a: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09905" y="2103120"/>
            <a:ext cx="525780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900" dirty="0">
                <a:solidFill>
                  <a:srgbClr val="132433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32433"/>
                </a:solidFill>
              </a:rPr>
              <a:t>Left column</a:t>
            </a:r>
            <a:endParaRPr lang="en-US" sz="1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324905" y="2103120"/>
            <a:ext cx="525780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900" dirty="0">
                <a:solidFill>
                  <a:srgbClr val="132433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32433"/>
                </a:solidFill>
              </a:rPr>
              <a:t>Right column</a:t>
            </a:r>
            <a:endParaRPr lang="en-US" sz="1900" dirty="0"/>
          </a:p>
        </p:txBody>
      </p:sp>
      <p:sp>
        <p:nvSpPr>
          <p:cNvPr id="7" name="Text 1"/>
          <p:cNvSpPr/>
          <p:nvPr/>
        </p:nvSpPr>
        <p:spPr>
          <a:xfrm>
            <a:off x="609905" y="6336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168"/>
                </a:solidFill>
              </a:rPr>
              <a:t>Nonlinear Dynamics Laboratory</a:t>
            </a:r>
            <a:endParaRPr lang="en-US" sz="1100" dirty="0"/>
          </a:p>
        </p:txBody>
      </p:sp>
      <p:pic>
        <p:nvPicPr>
          <p:cNvPr id="8" name="Image 0" descr="img/nld-lockup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515" y="6295644"/>
            <a:ext cx="926275" cy="356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B61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LD Closing">
    <p:bg>
      <p:bgPr>
        <a:solidFill>
          <a:srgbClr val="132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nld-lockup-stacked-on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5108" y="640080"/>
            <a:ext cx="2161480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89524" y="3063240"/>
            <a:ext cx="612648" cy="25603"/>
          </a:xfrm>
          <a:prstGeom prst="rect">
            <a:avLst/>
          </a:prstGeom>
          <a:solidFill>
            <a:srgbClr val="B4622A"/>
          </a:solidFill>
          <a:ln/>
        </p:spPr>
      </p:sp>
      <p:sp>
        <p:nvSpPr>
          <p:cNvPr id="4" name="Text 1"/>
          <p:cNvSpPr/>
          <p:nvPr/>
        </p:nvSpPr>
        <p:spPr>
          <a:xfrm>
            <a:off x="1527048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F6F2"/>
                </a:solidFill>
              </a:rPr>
              <a:t>When amplitude changes the story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527048" y="3840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6BF"/>
                </a:solidFill>
              </a:rPr>
              <a:t>In nonlinear structures, amplitude changes frequency, mode shape and stability.</a:t>
            </a:r>
            <a:endParaRPr lang="en-US" sz="18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2441448" y="480060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700" dirty="0">
                <a:solidFill>
                  <a:srgbClr val="A9B6B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700" dirty="0">
                <a:solidFill>
                  <a:srgbClr val="A9B6BF"/>
                </a:solidFill>
              </a:rPr>
              <a:t>web.uri.edu/nld · chelidze@uri.edu</a:t>
            </a: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832555" y="633679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A9B6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NCVD: an exact characteristic value decomposition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Toolbox for Python and MATLAB · github.com/nld-uri/ncvd-toolbox · Nonlinear Dynamics Laboratory, URI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DECOMPOSITION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One state record, two identities, both exact</a:t>
            </a:r>
          </a:p>
        </p:txBody>
      </p:sp>
      <p:pic>
        <p:nvPicPr>
          <p:cNvPr id="4" name="Picture 3" descr="ident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2111680"/>
            <a:ext cx="7551150" cy="1250000"/>
          </a:xfrm>
          <a:prstGeom prst="rect">
            <a:avLst/>
          </a:prstGeom>
        </p:spPr>
      </p:pic>
      <p:pic>
        <p:nvPicPr>
          <p:cNvPr id="5" name="Picture 4" descr="txt_ident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3661680"/>
            <a:ext cx="10971886" cy="14289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GEOMETRY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A complex mode is a rotating, shrinking polygon</a:t>
            </a:r>
          </a:p>
        </p:txBody>
      </p:sp>
      <p:pic>
        <p:nvPicPr>
          <p:cNvPr id="4" name="complex_mod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31574" y="1911680"/>
            <a:ext cx="9728548" cy="42562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GEOMETRY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The residual is what no linear model of the record explains</a:t>
            </a:r>
          </a:p>
        </p:txBody>
      </p:sp>
      <p:pic>
        <p:nvPicPr>
          <p:cNvPr id="4" name="residual_projec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31574" y="1911680"/>
            <a:ext cx="9728548" cy="42562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The readout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READOUT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The published GCVD reads poles from the diagonal of the coupling matrix</a:t>
            </a:r>
          </a:p>
        </p:txBody>
      </p:sp>
      <p:pic>
        <p:nvPicPr>
          <p:cNvPr id="4" name="Picture 3" descr="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2161680"/>
            <a:ext cx="8263681" cy="1500000"/>
          </a:xfrm>
          <a:prstGeom prst="rect">
            <a:avLst/>
          </a:prstGeom>
        </p:spPr>
      </p:pic>
      <p:pic>
        <p:nvPicPr>
          <p:cNvPr id="5" name="Picture 4" descr="txt_publi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3961680"/>
            <a:ext cx="10971886" cy="15017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READOUT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The balanced quotient folds the pole plane at the unit circle</a:t>
            </a:r>
          </a:p>
        </p:txBody>
      </p:sp>
      <p:pic>
        <p:nvPicPr>
          <p:cNvPr id="4" name="joukowski_fol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31574" y="1911680"/>
            <a:ext cx="9728548" cy="42562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READOUT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Off the diagonal, poles err at second order and shapes at first order</a:t>
            </a:r>
          </a:p>
        </p:txBody>
      </p:sp>
      <p:pic>
        <p:nvPicPr>
          <p:cNvPr id="4" name="Picture 3" descr="fig_ex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1961680"/>
            <a:ext cx="10971886" cy="40984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THE READOUT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Rotating by the eigenvectors of the coupling matrix makes both identities exact</a:t>
            </a:r>
          </a:p>
        </p:txBody>
      </p:sp>
      <p:pic>
        <p:nvPicPr>
          <p:cNvPr id="4" name="Picture 3" descr="canon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2011680"/>
            <a:ext cx="7606585" cy="520000"/>
          </a:xfrm>
          <a:prstGeom prst="rect">
            <a:avLst/>
          </a:prstGeom>
        </p:spPr>
      </p:pic>
      <p:pic>
        <p:nvPicPr>
          <p:cNvPr id="5" name="Picture 4" descr="equi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2911680"/>
            <a:ext cx="10971886" cy="4668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905" y="3811680"/>
            <a:ext cx="10971886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32433"/>
                </a:solidFill>
                <a:latin typeface="IBM Plex Sans"/>
              </a:rPr>
              <a:t>Characteristic values are the eigenvalues of the least-squares operator: the state-variable decomposition with a least-squares rate model.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32433"/>
                </a:solidFill>
                <a:latin typeface="IBM Plex Sans"/>
              </a:rPr>
              <a:t>The balanced quotient fixes only the normalisation and the conditioning of the intermediate steps.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32433"/>
                </a:solidFill>
                <a:latin typeface="IBM Plex Sans"/>
              </a:rPr>
              <a:t>No pole-to-shape assignment step is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Practical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PRACTICAL DATA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Any FIR derivative stencil can be inverted inside its band</a:t>
            </a:r>
          </a:p>
        </p:txBody>
      </p:sp>
      <p:pic>
        <p:nvPicPr>
          <p:cNvPr id="4" name="fir_b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905" y="1911680"/>
            <a:ext cx="7241444" cy="3168131"/>
          </a:xfrm>
          <a:prstGeom prst="rect">
            <a:avLst/>
          </a:prstGeom>
        </p:spPr>
      </p:pic>
      <p:pic>
        <p:nvPicPr>
          <p:cNvPr id="5" name="Picture 4" descr="f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225" y="2311680"/>
            <a:ext cx="2110105" cy="1300000"/>
          </a:xfrm>
          <a:prstGeom prst="rect">
            <a:avLst/>
          </a:prstGeom>
        </p:spPr>
      </p:pic>
      <p:pic>
        <p:nvPicPr>
          <p:cNvPr id="6" name="Picture 5" descr="txt_f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0225" y="3911680"/>
            <a:ext cx="3291565" cy="1320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PRACTICAL DATA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Bias-compensated least squares removes the noise bias in frequency</a:t>
            </a:r>
          </a:p>
        </p:txBody>
      </p:sp>
      <p:pic>
        <p:nvPicPr>
          <p:cNvPr id="4" name="Picture 3" descr="fig_ex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1961680"/>
            <a:ext cx="7460882" cy="2871380"/>
          </a:xfrm>
          <a:prstGeom prst="rect">
            <a:avLst/>
          </a:prstGeom>
        </p:spPr>
      </p:pic>
      <p:pic>
        <p:nvPicPr>
          <p:cNvPr id="5" name="Picture 4" descr="bc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944" y="2311680"/>
            <a:ext cx="2248125" cy="330000"/>
          </a:xfrm>
          <a:prstGeom prst="rect">
            <a:avLst/>
          </a:prstGeom>
        </p:spPr>
      </p:pic>
      <p:pic>
        <p:nvPicPr>
          <p:cNvPr id="6" name="Picture 5" descr="txt_bc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944" y="2911680"/>
            <a:ext cx="3181846" cy="19337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PRACTICAL DATA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Measured forcing and many records need no extra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b="1"/>
              <a:t>Measured forcing</a:t>
            </a:r>
          </a:p>
          <a:p>
            <a:r>
              <a:t>Project the input record out of both blocks.</a:t>
            </a:r>
          </a:p>
          <a:p>
            <a:r>
              <a:t>No mass or input matrix needed.</a:t>
            </a:r>
          </a:p>
          <a:p>
            <a:r>
              <a:t>Pole error at machine precision with the forcing, 0.048 rad/s without.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b="1"/>
              <a:t>Ensembles</a:t>
            </a:r>
          </a:p>
          <a:p>
            <a:r>
              <a:t>Stack the rows of every record and decompose once.</a:t>
            </a:r>
          </a:p>
          <a:p>
            <a:r>
              <a:t>Any sampling rates and lengths: the state-rate relation is continuous-time.</a:t>
            </a:r>
          </a:p>
          <a:p>
            <a:r>
              <a:t>16 trials: frequency error from 1.5 % to 0.34 %.</a:t>
            </a:r>
          </a:p>
        </p:txBody>
      </p:sp>
      <p:pic>
        <p:nvPicPr>
          <p:cNvPr id="6" name="Picture 5" descr="for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5767920"/>
            <a:ext cx="2483839" cy="330000"/>
          </a:xfrm>
          <a:prstGeom prst="rect">
            <a:avLst/>
          </a:prstGeom>
        </p:spPr>
      </p:pic>
      <p:pic>
        <p:nvPicPr>
          <p:cNvPr id="7" name="Picture 6" descr="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905" y="5167920"/>
            <a:ext cx="2089480" cy="95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Nonlinear systems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NONLINEAR SYSTEMS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Sliding windows trace frequency-energy dependence from one decay</a:t>
            </a:r>
          </a:p>
        </p:txBody>
      </p:sp>
      <p:pic>
        <p:nvPicPr>
          <p:cNvPr id="4" name="backbone_track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31574" y="1911680"/>
            <a:ext cx="9728548" cy="42562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NONLINEAR SYSTEMS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Each window is an equivalent-linear fit, and it needs the right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Excite every resonance you track; check the singular values of each window.</a:t>
            </a:r>
          </a:p>
          <a:p>
            <a:r>
              <a:t>Span at least one period of the slowest mode; a dozen is comfortable.</a:t>
            </a:r>
          </a:p>
          <a:p>
            <a:r>
              <a:t>A weak mode can lose its pole slot to a superharmonic of a strong one.</a:t>
            </a:r>
          </a:p>
          <a:p>
            <a:r>
              <a:t>Validate every pole against the measured response frequency.</a:t>
            </a:r>
          </a:p>
          <a:p>
            <a:r>
              <a:t>Trust frequencies and shapes; single-window damping scatters.</a:t>
            </a:r>
          </a:p>
          <a:p>
            <a:r>
              <a:t>Shape-derived ROM quantities change at first order with the readout: do not mix readouts.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USING THE TOOLBOX · GITHUB.COM/NLD-URI/NCVD-TOOLBOX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The same calls in Python and MATLAB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b="1"/>
              <a:t>Python</a:t>
            </a:r>
          </a:p>
          <a:p>
            <a:r>
              <a:rPr sz="1500">
                <a:latin typeface="IBM Plex Mono"/>
              </a:rPr>
              <a:t>import ncvd as nc</a:t>
            </a:r>
          </a:p>
          <a:p>
            <a:r>
              <a:rPr sz="1500">
                <a:latin typeface="IBM Plex Mono"/>
              </a:rPr>
              <a:t>rec = nc.ncvd(d, v, a)</a:t>
            </a:r>
          </a:p>
          <a:p>
            <a:r>
              <a:rPr sz="1500">
                <a:latin typeface="IBM Plex Mono"/>
              </a:rPr>
              <a:t>mp = nc.modal_parameters(rec.lam)</a:t>
            </a:r>
          </a:p>
          <a:p>
            <a:r>
              <a:rPr sz="1500">
                <a:latin typeface="IBM Plex Mono"/>
              </a:rPr>
              <a:t>tr = nc.track(d, v, a, fs=fs, length=800, step=400, M=M)</a:t>
            </a:r>
          </a:p>
          <a:p>
            <a:r>
              <a:t>pytest: 28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b="1"/>
              <a:t>MATLAB</a:t>
            </a:r>
          </a:p>
          <a:p>
            <a:r>
              <a:rPr sz="1500">
                <a:latin typeface="IBM Plex Mono"/>
              </a:rPr>
              <a:t>rec = ncvd.decompose(d, v, a);</a:t>
            </a:r>
          </a:p>
          <a:p>
            <a:r>
              <a:rPr sz="1500">
                <a:latin typeface="IBM Plex Mono"/>
              </a:rPr>
              <a:t>mp = ncvd.modalParameters(rec.lam);</a:t>
            </a:r>
          </a:p>
          <a:p>
            <a:r>
              <a:rPr sz="1500">
                <a:latin typeface="IBM Plex Mono"/>
              </a:rPr>
              <a:t>tr = ncvd.track(d, v, a, Fs=fs, Length=800, Step=400, M=M);</a:t>
            </a:r>
          </a:p>
          <a:p>
            <a:r>
              <a:t>runtests: 13 tests, Python cross-checks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github.com/nld-uri/ncvd-toolbox · web.uri.edu/nld/ncvd-toolbox</a:t>
            </a:r>
          </a:p>
          <a:p>
            <a:r>
              <a:t>chelidze@uri.edu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D">
  <a:themeElements>
    <a:clrScheme name="NLD">
      <a:dk1>
        <a:srgbClr val="132433"/>
      </a:dk1>
      <a:lt1>
        <a:srgbClr val="FFFFFF"/>
      </a:lt1>
      <a:dk2>
        <a:srgbClr val="5B6168"/>
      </a:dk2>
      <a:lt2>
        <a:srgbClr val="F7F6F2"/>
      </a:lt2>
      <a:accent1>
        <a:srgbClr val="1F5A85"/>
      </a:accent1>
      <a:accent2>
        <a:srgbClr val="B4622A"/>
      </a:accent2>
      <a:accent3>
        <a:srgbClr val="588A75"/>
      </a:accent3>
      <a:accent4>
        <a:srgbClr val="CA863E"/>
      </a:accent4>
      <a:accent5>
        <a:srgbClr val="774860"/>
      </a:accent5>
      <a:accent6>
        <a:srgbClr val="8FA3B0"/>
      </a:accent6>
      <a:hlink>
        <a:srgbClr val="9A5323"/>
      </a:hlink>
      <a:folHlink>
        <a:srgbClr val="774860"/>
      </a:folHlink>
    </a:clrScheme>
    <a:fontScheme name="NLD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Nonlinear Dynamics Laboratory, University of Rhode Island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NLD presentation template</dc:title>
  <dc:subject>PptxGenJS Presentation</dc:subject>
  <dc:creator>Nonlinear Dynamics Laboratory</dc:creator>
  <cp:lastModifiedBy>Nonlinear Dynamics Laboratory</cp:lastModifiedBy>
  <cp:revision>1</cp:revision>
  <dcterms:created xsi:type="dcterms:W3CDTF">2026-10-10T15:32:00Z</dcterms:created>
  <dcterms:modified xsi:type="dcterms:W3CDTF">2026-10-10T15:32:00Z</dcterms:modified>
</cp:coreProperties>
</file>