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γ = 0.4</c:v>
                </c:pt>
              </c:strCache>
            </c:strRef>
          </c:tx>
          <c:spPr>
            <a:solidFill>
              <a:srgbClr val="1F5A85"/>
            </a:solidFill>
            <a:ln w="25400" cap="flat">
              <a:solidFill>
                <a:srgbClr val="1F5A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5A85"/>
              </a:solidFill>
              <a:ln w="9525" cap="flat">
                <a:solidFill>
                  <a:srgbClr val="1F5A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1.001</c:v>
                </c:pt>
                <c:pt idx="2">
                  <c:v>1.006</c:v>
                </c:pt>
                <c:pt idx="3">
                  <c:v>1.013</c:v>
                </c:pt>
                <c:pt idx="4">
                  <c:v>1.024</c:v>
                </c:pt>
                <c:pt idx="5">
                  <c:v>1.037</c:v>
                </c:pt>
                <c:pt idx="6">
                  <c:v>1.053</c:v>
                </c:pt>
                <c:pt idx="7">
                  <c:v>1.071</c:v>
                </c:pt>
                <c:pt idx="8">
                  <c:v>1.092</c:v>
                </c:pt>
                <c:pt idx="9">
                  <c:v>1.115</c:v>
                </c:pt>
                <c:pt idx="10">
                  <c:v>1.14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γ = 0.8</c:v>
                </c:pt>
              </c:strCache>
            </c:strRef>
          </c:tx>
          <c:spPr>
            <a:solidFill>
              <a:srgbClr val="B4622A"/>
            </a:solidFill>
            <a:ln w="25400" cap="flat">
              <a:solidFill>
                <a:srgbClr val="B462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4622A"/>
              </a:solidFill>
              <a:ln w="9525" cap="flat">
                <a:solidFill>
                  <a:srgbClr val="B462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1.003</c:v>
                </c:pt>
                <c:pt idx="2">
                  <c:v>1.012</c:v>
                </c:pt>
                <c:pt idx="3">
                  <c:v>1.027</c:v>
                </c:pt>
                <c:pt idx="4">
                  <c:v>1.047</c:v>
                </c:pt>
                <c:pt idx="5">
                  <c:v>1.072</c:v>
                </c:pt>
                <c:pt idx="6">
                  <c:v>1.103</c:v>
                </c:pt>
                <c:pt idx="7">
                  <c:v>1.138</c:v>
                </c:pt>
                <c:pt idx="8">
                  <c:v>1.176</c:v>
                </c:pt>
                <c:pt idx="9">
                  <c:v>1.219</c:v>
                </c:pt>
                <c:pt idx="10">
                  <c:v>1.265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γ = 1.2</c:v>
                </c:pt>
              </c:strCache>
            </c:strRef>
          </c:tx>
          <c:spPr>
            <a:solidFill>
              <a:srgbClr val="588A75"/>
            </a:solidFill>
            <a:ln w="25400" cap="flat">
              <a:solidFill>
                <a:srgbClr val="588A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88A75"/>
              </a:solidFill>
              <a:ln w="9525" cap="flat">
                <a:solidFill>
                  <a:srgbClr val="588A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</c:v>
                </c:pt>
                <c:pt idx="1">
                  <c:v>1.004</c:v>
                </c:pt>
                <c:pt idx="2">
                  <c:v>1.018</c:v>
                </c:pt>
                <c:pt idx="3">
                  <c:v>1.04</c:v>
                </c:pt>
                <c:pt idx="4">
                  <c:v>1.07</c:v>
                </c:pt>
                <c:pt idx="5">
                  <c:v>1.107</c:v>
                </c:pt>
                <c:pt idx="6">
                  <c:v>1.151</c:v>
                </c:pt>
                <c:pt idx="7">
                  <c:v>1.2</c:v>
                </c:pt>
                <c:pt idx="8">
                  <c:v>1.255</c:v>
                </c:pt>
                <c:pt idx="9">
                  <c:v>1.315</c:v>
                </c:pt>
                <c:pt idx="10">
                  <c:v>1.378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γ = 1.6</c:v>
                </c:pt>
              </c:strCache>
            </c:strRef>
          </c:tx>
          <c:spPr>
            <a:solidFill>
              <a:srgbClr val="CA863E"/>
            </a:solidFill>
            <a:ln w="25400" cap="flat">
              <a:solidFill>
                <a:srgbClr val="CA86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A863E"/>
              </a:solidFill>
              <a:ln w="9525" cap="flat">
                <a:solidFill>
                  <a:srgbClr val="CA86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</c:v>
                </c:pt>
                <c:pt idx="1">
                  <c:v>1.006</c:v>
                </c:pt>
                <c:pt idx="2">
                  <c:v>1.024</c:v>
                </c:pt>
                <c:pt idx="3">
                  <c:v>1.053</c:v>
                </c:pt>
                <c:pt idx="4">
                  <c:v>1.092</c:v>
                </c:pt>
                <c:pt idx="5">
                  <c:v>1.14</c:v>
                </c:pt>
                <c:pt idx="6">
                  <c:v>1.197</c:v>
                </c:pt>
                <c:pt idx="7">
                  <c:v>1.26</c:v>
                </c:pt>
                <c:pt idx="8">
                  <c:v>1.33</c:v>
                </c:pt>
                <c:pt idx="9">
                  <c:v>1.404</c:v>
                </c:pt>
                <c:pt idx="10">
                  <c:v>1.483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γ = 2</c:v>
                </c:pt>
              </c:strCache>
            </c:strRef>
          </c:tx>
          <c:spPr>
            <a:solidFill>
              <a:srgbClr val="774860"/>
            </a:solidFill>
            <a:ln w="25400" cap="flat">
              <a:solidFill>
                <a:srgbClr val="7748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74860"/>
              </a:solidFill>
              <a:ln w="9525" cap="flat">
                <a:solidFill>
                  <a:srgbClr val="7748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</c:v>
                </c:pt>
                <c:pt idx="1">
                  <c:v>1.007</c:v>
                </c:pt>
                <c:pt idx="2">
                  <c:v>1.03</c:v>
                </c:pt>
                <c:pt idx="3">
                  <c:v>1.065</c:v>
                </c:pt>
                <c:pt idx="4">
                  <c:v>1.114</c:v>
                </c:pt>
                <c:pt idx="5">
                  <c:v>1.173</c:v>
                </c:pt>
                <c:pt idx="6">
                  <c:v>1.241</c:v>
                </c:pt>
                <c:pt idx="7">
                  <c:v>1.317</c:v>
                </c:pt>
                <c:pt idx="8">
                  <c:v>1.4</c:v>
                </c:pt>
                <c:pt idx="9">
                  <c:v>1.488</c:v>
                </c:pt>
                <c:pt idx="10">
                  <c:v>1.581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32433"/>
                    </a:solidFill>
                    <a:latin typeface="Arial"/>
                  </a:defRPr>
                </a:pPr>
                <a:r>
                  <a:rPr sz="1300" b="0" i="0" u="none" strike="noStrike">
                    <a:solidFill>
                      <a:srgbClr val="132433"/>
                    </a:solidFill>
                    <a:latin typeface="Arial"/>
                  </a:rPr>
                  <a:t>amplitude 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1"/>
        </c:scaling>
        <c:delete val="0"/>
        <c:axPos val="l"/>
        <c:majorGridlines>
          <c:spPr>
            <a:ln w="6350" cap="flat">
              <a:solidFill>
                <a:srgbClr val="DCD9D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32433"/>
                    </a:solidFill>
                    <a:latin typeface="Arial"/>
                  </a:defRPr>
                </a:pPr>
                <a:r>
                  <a:rPr sz="1300" b="0" i="0" u="none" strike="noStrike">
                    <a:solidFill>
                      <a:srgbClr val="132433"/>
                    </a:solidFill>
                    <a:latin typeface="Arial"/>
                  </a:rPr>
                  <a:t>ω / ω₀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4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324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LD Title">
    <p:bg>
      <p:bgPr>
        <a:solidFill>
          <a:srgbClr val="13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nld-lockup-horizontal-on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609905"/>
            <a:ext cx="2556470" cy="758952"/>
          </a:xfrm>
          <a:prstGeom prst="rect">
            <a:avLst/>
          </a:prstGeom>
        </p:spPr>
      </p:pic>
      <p:pic>
        <p:nvPicPr>
          <p:cNvPr id="3" name="Image 1" descr="img/nld-mark-hero-on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143000"/>
            <a:ext cx="4023360" cy="4023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905" y="3246120"/>
            <a:ext cx="612648" cy="25603"/>
          </a:xfrm>
          <a:prstGeom prst="rect">
            <a:avLst/>
          </a:prstGeom>
          <a:solidFill>
            <a:srgbClr val="B4622A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09905" y="3429000"/>
            <a:ext cx="6400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7F6F2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7F6F2"/>
                </a:solidFill>
              </a:rPr>
              <a:t>Presentation title</a:t>
            </a:r>
            <a:endParaRPr lang="en-US" sz="4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09905" y="5440680"/>
            <a:ext cx="6400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dirty="0">
                <a:solidFill>
                  <a:srgbClr val="A9B6BF"/>
                </a:solidFill>
              </a:defRPr>
            </a:lvl1pPr>
          </a:lstStyle>
          <a:p>
            <a:pPr indent="0" marL="0">
              <a:buNone/>
            </a:pPr>
            <a:r>
              <a:rPr lang="en-US" sz="1900" dirty="0">
                <a:solidFill>
                  <a:srgbClr val="A9B6BF"/>
                </a:solidFill>
              </a:rPr>
              <a:t>Presenter · Venue · Date</a:t>
            </a:r>
            <a:endParaRPr lang="en-US" sz="1900" dirty="0"/>
          </a:p>
        </p:txBody>
      </p:sp>
      <p:sp>
        <p:nvSpPr>
          <p:cNvPr id="7" name="Text 1"/>
          <p:cNvSpPr/>
          <p:nvPr/>
        </p:nvSpPr>
        <p:spPr>
          <a:xfrm>
            <a:off x="609905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8A52"/>
                </a:solidFill>
              </a:rPr>
              <a:t>When amplitude changes the story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LD Section">
    <p:bg>
      <p:bgPr>
        <a:solidFill>
          <a:srgbClr val="13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nld-mark-hero-on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34440"/>
            <a:ext cx="3566160" cy="35661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09905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rgbClr val="D98A52"/>
                </a:solidFill>
              </a:defRPr>
            </a:lvl1pPr>
          </a:lstStyle>
          <a:p>
            <a:pPr algn="l" indent="0" marL="0">
              <a:buNone/>
            </a:pPr>
            <a:r>
              <a:rPr lang="en-US" sz="8000" b="1" dirty="0">
                <a:solidFill>
                  <a:srgbClr val="D98A52"/>
                </a:solidFill>
              </a:rPr>
              <a:t>01</a:t>
            </a:r>
            <a:endParaRPr lang="en-US" sz="8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09905" y="3063240"/>
            <a:ext cx="6492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7F6F2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F7F6F2"/>
                </a:solidFill>
              </a:rPr>
              <a:t>Section title</a:t>
            </a:r>
            <a:endParaRPr lang="en-US" sz="4400" dirty="0"/>
          </a:p>
        </p:txBody>
      </p:sp>
      <p:sp>
        <p:nvSpPr>
          <p:cNvPr id="5" name="Text 0"/>
          <p:cNvSpPr/>
          <p:nvPr/>
        </p:nvSpPr>
        <p:spPr>
          <a:xfrm>
            <a:off x="609905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6BF"/>
                </a:solidFill>
              </a:rPr>
              <a:t>Nonlinear Dynamics Laboratory</a:t>
            </a:r>
            <a:endParaRPr lang="en-US" sz="1100" dirty="0"/>
          </a:p>
        </p:txBody>
      </p:sp>
      <p:pic>
        <p:nvPicPr>
          <p:cNvPr id="6" name="Image 1" descr="img/nld-lockup-compact-on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515" y="6295644"/>
            <a:ext cx="926275" cy="356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32555" y="633679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A9B6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LD Content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3796"/>
            <a:ext cx="155448" cy="25603"/>
          </a:xfrm>
          <a:prstGeom prst="rect">
            <a:avLst/>
          </a:prstGeom>
          <a:solidFill>
            <a:srgbClr val="B4622A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29361" y="530352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150" kern="0" dirty="0">
                <a:solidFill>
                  <a:srgbClr val="5B6168"/>
                </a:solidFill>
              </a:defRPr>
            </a:lvl1pPr>
          </a:lstStyle>
          <a:p>
            <a:pPr indent="0" marL="0">
              <a:buNone/>
            </a:pPr>
            <a:r>
              <a:rPr lang="en-US" sz="1200" spc="150" kern="0" dirty="0">
                <a:solidFill>
                  <a:srgbClr val="5B6168"/>
                </a:solidFill>
              </a:rPr>
              <a:t>SECTION LABEL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09905" y="841248"/>
            <a:ext cx="10971886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32433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32433"/>
                </a:solidFill>
              </a:rPr>
              <a:t>Headline states the claim</a:t>
            </a:r>
            <a:endParaRPr lang="en-US" sz="3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09905" y="2103120"/>
            <a:ext cx="1024128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900" dirty="0">
                <a:solidFill>
                  <a:srgbClr val="132433"/>
                </a:solidFill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32433"/>
                </a:solidFill>
              </a:rPr>
              <a:t>Point one</a:t>
            </a:r>
            <a:endParaRPr lang="en-US" sz="1900" dirty="0"/>
          </a:p>
        </p:txBody>
      </p:sp>
      <p:sp>
        <p:nvSpPr>
          <p:cNvPr id="6" name="Text 1"/>
          <p:cNvSpPr/>
          <p:nvPr/>
        </p:nvSpPr>
        <p:spPr>
          <a:xfrm>
            <a:off x="609905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68"/>
                </a:solidFill>
              </a:rPr>
              <a:t>Nonlinear Dynamics Laboratory</a:t>
            </a:r>
            <a:endParaRPr lang="en-US" sz="1100" dirty="0"/>
          </a:p>
        </p:txBody>
      </p:sp>
      <p:pic>
        <p:nvPicPr>
          <p:cNvPr id="7" name="Image 0" descr="img/nld-lockup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515" y="6295644"/>
            <a:ext cx="926275" cy="356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32555" y="633679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LD Title Only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3796"/>
            <a:ext cx="155448" cy="25603"/>
          </a:xfrm>
          <a:prstGeom prst="rect">
            <a:avLst/>
          </a:prstGeom>
          <a:solidFill>
            <a:srgbClr val="B4622A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29361" y="530352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150" kern="0" dirty="0">
                <a:solidFill>
                  <a:srgbClr val="5B6168"/>
                </a:solidFill>
              </a:defRPr>
            </a:lvl1pPr>
          </a:lstStyle>
          <a:p>
            <a:pPr indent="0" marL="0">
              <a:buNone/>
            </a:pPr>
            <a:r>
              <a:rPr lang="en-US" sz="1200" spc="150" kern="0" dirty="0">
                <a:solidFill>
                  <a:srgbClr val="5B6168"/>
                </a:solidFill>
              </a:rPr>
              <a:t>SECTION LABEL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09905" y="841248"/>
            <a:ext cx="10971886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32433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32433"/>
                </a:solidFill>
              </a:rPr>
              <a:t>Headline states the claim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09905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68"/>
                </a:solidFill>
              </a:rPr>
              <a:t>Nonlinear Dynamics Laboratory</a:t>
            </a:r>
            <a:endParaRPr lang="en-US" sz="1100" dirty="0"/>
          </a:p>
        </p:txBody>
      </p:sp>
      <p:pic>
        <p:nvPicPr>
          <p:cNvPr id="6" name="Image 0" descr="img/nld-lockup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515" y="6295644"/>
            <a:ext cx="926275" cy="356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32555" y="633679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LD Figure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3796"/>
            <a:ext cx="155448" cy="25603"/>
          </a:xfrm>
          <a:prstGeom prst="rect">
            <a:avLst/>
          </a:prstGeom>
          <a:solidFill>
            <a:srgbClr val="B4622A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29361" y="530352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150" kern="0" dirty="0">
                <a:solidFill>
                  <a:srgbClr val="5B6168"/>
                </a:solidFill>
              </a:defRPr>
            </a:lvl1pPr>
          </a:lstStyle>
          <a:p>
            <a:pPr indent="0" marL="0">
              <a:buNone/>
            </a:pPr>
            <a:r>
              <a:rPr lang="en-US" sz="1200" spc="150" kern="0" dirty="0">
                <a:solidFill>
                  <a:srgbClr val="5B6168"/>
                </a:solidFill>
              </a:rPr>
              <a:t>SECTION LABEL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09905" y="841248"/>
            <a:ext cx="10971886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32433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32433"/>
                </a:solidFill>
              </a:rPr>
              <a:t>Headline states the claim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09905" y="2011680"/>
            <a:ext cx="70408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9D2"/>
            </a:solidFill>
            <a:prstDash val="solid"/>
          </a:ln>
        </p:spPr>
      </p:sp>
      <p:sp>
        <p:nvSpPr>
          <p:cNvPr id="6" name="Text 2"/>
          <p:cNvSpPr/>
          <p:nvPr>
            <p:ph idx="104" hasCustomPrompt="1"/>
          </p:nvPr>
        </p:nvSpPr>
        <p:spPr>
          <a:xfrm>
            <a:off x="701345" y="2103120"/>
            <a:ext cx="685800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5B616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5B6168"/>
                </a:solidFill>
              </a:rPr>
              <a:t>Insert figure (vector PDF or 300 dpi PNG, white background)</a:t>
            </a:r>
            <a:endParaRPr lang="en-US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8092440" y="2011680"/>
            <a:ext cx="347472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5B6168"/>
                </a:solidFill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5B6168"/>
                </a:solidFill>
              </a:rPr>
              <a:t>One or two sentences on how to read the figure.</a:t>
            </a:r>
            <a:endParaRPr lang="en-US" sz="1700" dirty="0"/>
          </a:p>
        </p:txBody>
      </p:sp>
      <p:sp>
        <p:nvSpPr>
          <p:cNvPr id="8" name="Text 2"/>
          <p:cNvSpPr/>
          <p:nvPr/>
        </p:nvSpPr>
        <p:spPr>
          <a:xfrm>
            <a:off x="609905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68"/>
                </a:solidFill>
              </a:rPr>
              <a:t>Nonlinear Dynamics Laboratory</a:t>
            </a:r>
            <a:endParaRPr lang="en-US" sz="1100" dirty="0"/>
          </a:p>
        </p:txBody>
      </p:sp>
      <p:pic>
        <p:nvPicPr>
          <p:cNvPr id="9" name="Image 0" descr="img/nld-lockup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515" y="6295644"/>
            <a:ext cx="926275" cy="356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32555" y="633679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LD Two Column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3796"/>
            <a:ext cx="155448" cy="25603"/>
          </a:xfrm>
          <a:prstGeom prst="rect">
            <a:avLst/>
          </a:prstGeom>
          <a:solidFill>
            <a:srgbClr val="B4622A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29361" y="530352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150" kern="0" dirty="0">
                <a:solidFill>
                  <a:srgbClr val="5B6168"/>
                </a:solidFill>
              </a:defRPr>
            </a:lvl1pPr>
          </a:lstStyle>
          <a:p>
            <a:pPr indent="0" marL="0">
              <a:buNone/>
            </a:pPr>
            <a:r>
              <a:rPr lang="en-US" sz="1200" spc="150" kern="0" dirty="0">
                <a:solidFill>
                  <a:srgbClr val="5B6168"/>
                </a:solidFill>
              </a:rPr>
              <a:t>SECTION LABEL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09905" y="841248"/>
            <a:ext cx="10971886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32433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32433"/>
                </a:solidFill>
              </a:rPr>
              <a:t>Headline states the claim</a:t>
            </a:r>
            <a:endParaRPr lang="en-US" sz="3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09905" y="2103120"/>
            <a:ext cx="525780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900" dirty="0">
                <a:solidFill>
                  <a:srgbClr val="132433"/>
                </a:solidFill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32433"/>
                </a:solidFill>
              </a:rPr>
              <a:t>Left column</a:t>
            </a:r>
            <a:endParaRPr lang="en-US" sz="19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324905" y="2103120"/>
            <a:ext cx="525780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900" dirty="0">
                <a:solidFill>
                  <a:srgbClr val="132433"/>
                </a:solidFill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32433"/>
                </a:solidFill>
              </a:rPr>
              <a:t>Right column</a:t>
            </a:r>
            <a:endParaRPr lang="en-US" sz="1900" dirty="0"/>
          </a:p>
        </p:txBody>
      </p:sp>
      <p:sp>
        <p:nvSpPr>
          <p:cNvPr id="7" name="Text 1"/>
          <p:cNvSpPr/>
          <p:nvPr/>
        </p:nvSpPr>
        <p:spPr>
          <a:xfrm>
            <a:off x="609905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68"/>
                </a:solidFill>
              </a:rPr>
              <a:t>Nonlinear Dynamics Laboratory</a:t>
            </a:r>
            <a:endParaRPr lang="en-US" sz="1100" dirty="0"/>
          </a:p>
        </p:txBody>
      </p:sp>
      <p:pic>
        <p:nvPicPr>
          <p:cNvPr id="8" name="Image 0" descr="img/nld-lockup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5515" y="6295644"/>
            <a:ext cx="926275" cy="356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32555" y="633679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LD Closing">
    <p:bg>
      <p:bgPr>
        <a:solidFill>
          <a:srgbClr val="13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nld-lockup-stacked-on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5108" y="640080"/>
            <a:ext cx="2161480" cy="2103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89524" y="3063240"/>
            <a:ext cx="612648" cy="25603"/>
          </a:xfrm>
          <a:prstGeom prst="rect">
            <a:avLst/>
          </a:prstGeom>
          <a:solidFill>
            <a:srgbClr val="B4622A"/>
          </a:solidFill>
          <a:ln/>
        </p:spPr>
      </p:sp>
      <p:sp>
        <p:nvSpPr>
          <p:cNvPr id="4" name="Text 1"/>
          <p:cNvSpPr/>
          <p:nvPr/>
        </p:nvSpPr>
        <p:spPr>
          <a:xfrm>
            <a:off x="1527048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F6F2"/>
                </a:solidFill>
              </a:rPr>
              <a:t>When amplitude changes the story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27048" y="38404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6BF"/>
                </a:solidFill>
              </a:rPr>
              <a:t>In nonlinear structures, amplitude changes frequency, mode shape and stability.</a:t>
            </a:r>
            <a:endParaRPr lang="en-US" sz="18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2441448" y="480060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700" dirty="0">
                <a:solidFill>
                  <a:srgbClr val="A9B6BF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700" dirty="0">
                <a:solidFill>
                  <a:srgbClr val="A9B6BF"/>
                </a:solidFill>
              </a:rPr>
              <a:t>web.uri.edu/nld · chelidze@uri.edu</a:t>
            </a: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32555" y="633679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A9B6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609905" y="34290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7F6F2"/>
                </a:solidFill>
              </a:rPr>
              <a:t>Why vibrations matter for mechanical engineers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609905" y="5440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9B6BF"/>
                </a:solidFill>
              </a:rPr>
              <a:t>David Chelidze · University of Rhode Island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29361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5B6168"/>
                </a:solidFill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09905" y="841248"/>
            <a:ext cx="109718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3"/>
                </a:solidFill>
              </a:rPr>
              <a:t>Linear modal analysis fails when frequency depends on amplitude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09905" y="210312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433"/>
                </a:solidFill>
              </a:rPr>
              <a:t>Natural frequencies shift with vibration energy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433"/>
                </a:solidFill>
              </a:rPr>
              <a:t>Mode shapes bend along invariant manifolds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433"/>
                </a:solidFill>
              </a:rPr>
              <a:t>Superposition no longer holds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32555" y="633679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09905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D98A52"/>
                </a:solidFill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09905" y="306324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7F6F2"/>
                </a:solidFill>
              </a:rPr>
              <a:t>Nonlinear normal modes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32555" y="633679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A9B6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29361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5B6168"/>
                </a:solidFill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09905" y="841248"/>
            <a:ext cx="109718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3"/>
                </a:solidFill>
              </a:rPr>
              <a:t>Stiffening shifts the backbone curve upward</a:t>
            </a:r>
            <a:endParaRPr lang="en-US" sz="3000" dirty="0"/>
          </a:p>
        </p:txBody>
      </p:sp>
      <p:pic>
        <p:nvPicPr>
          <p:cNvPr id="4" name="Image 0" descr="img/example-backbone.png">    </p:cNvPr>
          <p:cNvPicPr>
            <a:picLocks noChangeAspect="1"/>
          </p:cNvPicPr>
          <p:nvPr>
            <p:ph idx="104" hasCustomPrompt="1"/>
          </p:nvPr>
        </p:nvPicPr>
        <p:blipFill>
          <a:blip r:embed="rId1"/>
          <a:stretch>
            <a:fillRect/>
          </a:stretch>
        </p:blipFill>
        <p:spPr>
          <a:xfrm>
            <a:off x="701345" y="2103120"/>
            <a:ext cx="6702552" cy="3931920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5" type="body" hasCustomPrompt="1"/>
          </p:nvPr>
        </p:nvSpPr>
        <p:spPr>
          <a:xfrm>
            <a:off x="8092440" y="2011680"/>
            <a:ext cx="3474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168"/>
                </a:solidFill>
              </a:rPr>
              <a:t>Larger γ, stronger hardening. The dashed line is the linear natural frequency. Illustrative Duffing curves, not measured data.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32555" y="633679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29361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5B6168"/>
                </a:solidFill>
              </a:rPr>
              <a:t>NATIVE CHART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09905" y="841248"/>
            <a:ext cx="109718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3"/>
                </a:solidFill>
              </a:rPr>
              <a:t>Native charts pick up the figure palette from the theme</a:t>
            </a:r>
            <a:endParaRPr lang="en-US" sz="3000" dirty="0"/>
          </a:p>
        </p:txBody>
      </p:sp>
      <p:graphicFrame>
        <p:nvGraphicFramePr>
          <p:cNvPr id="4" name="Backbone chart" descr=""/>
          <p:cNvGraphicFramePr/>
          <p:nvPr/>
        </p:nvGraphicFramePr>
        <p:xfrm>
          <a:off x="609905" y="2011680"/>
          <a:ext cx="7863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hart note"/>
          <p:cNvSpPr txBox="1"/>
          <p:nvPr/>
        </p:nvSpPr>
        <p:spPr>
          <a:xfrm>
            <a:off x="8778240" y="2011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168"/>
                </a:solidFill>
              </a:rPr>
              <a:t>Illustrative curves, not data.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32555" y="633679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29361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5B6168"/>
                </a:solidFill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09905" y="841248"/>
            <a:ext cx="109718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3"/>
                </a:solidFill>
              </a:rPr>
              <a:t>Experiment and model answer different questions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09905" y="210312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32433"/>
                </a:solidFill>
              </a:rPr>
              <a:t>Experiment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433"/>
                </a:solidFill>
              </a:rPr>
              <a:t>Phase resonance testing traces the backbone curve directly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433"/>
                </a:solidFill>
              </a:rPr>
              <a:t>Free decay gives frequency-energy dependence</a:t>
            </a:r>
            <a:endParaRPr lang="en-US" sz="19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6324905" y="210312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32433"/>
                </a:solidFill>
              </a:rPr>
              <a:t>Model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433"/>
                </a:solidFill>
              </a:rPr>
              <a:t>Continuation computes nonlinear normal modes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433"/>
                </a:solidFill>
              </a:rPr>
              <a:t>Reduced-order models predict forced response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832555" y="633679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5B61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2441448" y="4800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9B6BF"/>
                </a:solidFill>
              </a:rPr>
              <a:t>Questions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9B6BF"/>
                </a:solidFill>
              </a:rPr>
              <a:t>web.uri.edu/nld · chelidze@uri.edu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LD">
  <a:themeElements>
    <a:clrScheme name="NLD">
      <a:dk1>
        <a:srgbClr val="132433"/>
      </a:dk1>
      <a:lt1>
        <a:srgbClr val="FFFFFF"/>
      </a:lt1>
      <a:dk2>
        <a:srgbClr val="5B6168"/>
      </a:dk2>
      <a:lt2>
        <a:srgbClr val="F7F6F2"/>
      </a:lt2>
      <a:accent1>
        <a:srgbClr val="1F5A85"/>
      </a:accent1>
      <a:accent2>
        <a:srgbClr val="B4622A"/>
      </a:accent2>
      <a:accent3>
        <a:srgbClr val="588A75"/>
      </a:accent3>
      <a:accent4>
        <a:srgbClr val="CA863E"/>
      </a:accent4>
      <a:accent5>
        <a:srgbClr val="774860"/>
      </a:accent5>
      <a:accent6>
        <a:srgbClr val="8FA3B0"/>
      </a:accent6>
      <a:hlink>
        <a:srgbClr val="9A5323"/>
      </a:hlink>
      <a:folHlink>
        <a:srgbClr val="774860"/>
      </a:folHlink>
    </a:clrScheme>
    <a:fontScheme name="NLD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Nonlinear Dynamics Laboratory, University of Rhode Island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NLD presentation template</dc:title>
  <dc:subject>PptxGenJS Presentation</dc:subject>
  <dc:creator>Nonlinear Dynamics Laboratory</dc:creator>
  <cp:lastModifiedBy>Nonlinear Dynamics Laboratory</cp:lastModifiedBy>
  <cp:revision>1</cp:revision>
  <dcterms:created xsi:type="dcterms:W3CDTF">2026-10-10T15:32:00Z</dcterms:created>
  <dcterms:modified xsi:type="dcterms:W3CDTF">2026-10-10T15:32:00Z</dcterms:modified>
</cp:coreProperties>
</file>